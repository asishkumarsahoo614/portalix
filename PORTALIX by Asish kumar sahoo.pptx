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7" r:id="rId12"/>
    <p:sldId id="2146847058" r:id="rId13"/>
    <p:sldId id="2146847059" r:id="rId14"/>
    <p:sldId id="2146847060" r:id="rId15"/>
    <p:sldId id="268" r:id="rId16"/>
    <p:sldId id="2146847055" r:id="rId17"/>
    <p:sldId id="269" r:id="rId18"/>
    <p:sldId id="2146847056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1C8502-1321-484F-BD28-D552818A940B}" v="906" dt="2026-09-28T19:57:35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.dev/docs?utm_source=gemini" TargetMode="External"/><Relationship Id="rId2" Type="http://schemas.openxmlformats.org/officeDocument/2006/relationships/hyperlink" Target="https://docs.streamlit.io/?utm_source=gemin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yptography.io/en/latest/fernet/?utm_source=gemini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0rtalix-demo.streamlit.app/" TargetMode="External"/><Relationship Id="rId2" Type="http://schemas.openxmlformats.org/officeDocument/2006/relationships/hyperlink" Target="https://github.com/asishkumarsahoo614/Portalix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0123"/>
            <a:ext cx="9144000" cy="977778"/>
          </a:xfrm>
        </p:spPr>
        <p:txBody>
          <a:bodyPr>
            <a:normAutofit/>
          </a:bodyPr>
          <a:lstStyle/>
          <a:p>
            <a:pPr algn="ctr"/>
            <a:r>
              <a:rPr lang="en-US" b="1" cap="none" dirty="0">
                <a:solidFill>
                  <a:schemeClr val="tx1"/>
                </a:solidFill>
                <a:latin typeface="Arial"/>
                <a:cs typeface="Arial"/>
              </a:rPr>
              <a:t>PORTALIX</a:t>
            </a:r>
            <a:r>
              <a:rPr lang="en-US" sz="4000" b="1" cap="none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lang="en-US" b="1" cap="none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cap="none" dirty="0">
                <a:solidFill>
                  <a:schemeClr val="tx1"/>
                </a:solidFill>
                <a:latin typeface="Arial"/>
                <a:cs typeface="Arial"/>
              </a:rPr>
              <a:t>Productivity Dashboard</a:t>
            </a:r>
            <a:br>
              <a:rPr lang="en-US" sz="2800" cap="none" dirty="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US" sz="1600" i="1" cap="none" dirty="0">
                <a:solidFill>
                  <a:schemeClr val="bg1"/>
                </a:solidFill>
                <a:highlight>
                  <a:srgbClr val="0D1117"/>
                </a:highlight>
                <a:latin typeface="Franklin Gothic Book"/>
                <a:ea typeface="+mj-lt"/>
                <a:cs typeface="Arial"/>
              </a:rPr>
              <a:t>Full-stack </a:t>
            </a:r>
            <a:r>
              <a:rPr lang="en-US" sz="1600" i="1" cap="none" dirty="0" err="1">
                <a:solidFill>
                  <a:schemeClr val="bg1"/>
                </a:solidFill>
                <a:highlight>
                  <a:srgbClr val="0D1117"/>
                </a:highlight>
                <a:latin typeface="Franklin Gothic Book"/>
                <a:ea typeface="+mj-lt"/>
                <a:cs typeface="Arial"/>
              </a:rPr>
              <a:t>Streamlit</a:t>
            </a:r>
            <a:r>
              <a:rPr lang="en-US" sz="1600" i="1" cap="none" dirty="0">
                <a:solidFill>
                  <a:schemeClr val="bg1"/>
                </a:solidFill>
                <a:highlight>
                  <a:srgbClr val="0D1117"/>
                </a:highlight>
                <a:latin typeface="Franklin Gothic Book"/>
                <a:ea typeface="+mj-lt"/>
                <a:cs typeface="Arial"/>
              </a:rPr>
              <a:t> application with AI features powered by Google Gemini Flash</a:t>
            </a:r>
            <a:endParaRPr lang="en-US" sz="1600" b="1" i="1" cap="none" dirty="0">
              <a:solidFill>
                <a:schemeClr val="bg1"/>
              </a:solidFill>
              <a:highlight>
                <a:srgbClr val="0D1117"/>
              </a:highlight>
              <a:latin typeface="Franklin Gothic Book"/>
              <a:ea typeface="Calibri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Presented By:</a:t>
            </a:r>
            <a:endParaRPr lang="en-US" sz="2000" b="1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Asish Kumar Sahoo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Stewart Science College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BSc(Hons). Zoology</a:t>
            </a:r>
            <a:endParaRPr lang="en-US" sz="900" b="1" dirty="0">
              <a:solidFill>
                <a:schemeClr val="accent1">
                  <a:lumMod val="75000"/>
                </a:schemeClr>
              </a:solidFill>
              <a:highlight>
                <a:srgbClr val="F8FAFC"/>
              </a:highlight>
              <a:ea typeface="+mn-lt"/>
              <a:cs typeface="+mn-lt"/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   AICTE ID- 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/>
                <a:ea typeface="+mn-lt"/>
                <a:cs typeface="Arial"/>
              </a:rPr>
              <a:t>STU689234386777b1754412088</a:t>
            </a:r>
            <a:endParaRPr lang="en-US" sz="900" b="1" dirty="0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sz="2000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Proposed Solution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cs typeface="Arial"/>
              </a:rPr>
              <a:t>Deployment Link</a:t>
            </a:r>
          </a:p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98" y="968145"/>
            <a:ext cx="11169006" cy="441312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 algn="just"/>
            <a:r>
              <a:rPr lang="en-IN" sz="1800" dirty="0">
                <a:latin typeface="Arial"/>
                <a:ea typeface="+mn-lt"/>
                <a:cs typeface="Arial"/>
              </a:rPr>
              <a:t>Modern digital workflows require juggling multiple browser tabs, web tools, scattered notes, and credentials daily.</a:t>
            </a:r>
            <a:endParaRPr lang="en-IN" sz="1800" b="1" dirty="0">
              <a:latin typeface="Arial"/>
              <a:cs typeface="Arial"/>
            </a:endParaRPr>
          </a:p>
          <a:p>
            <a:pPr marL="305435" indent="-305435" algn="just"/>
            <a:r>
              <a:rPr lang="en-IN" sz="1800" dirty="0">
                <a:latin typeface="Arial"/>
                <a:ea typeface="+mn-lt"/>
                <a:cs typeface="Arial"/>
              </a:rPr>
              <a:t>Excessive tab clutter leads to cognitive overload, reduced focus, and lost browsing context.</a:t>
            </a:r>
            <a:endParaRPr lang="en-IN" sz="1800">
              <a:latin typeface="Arial"/>
              <a:cs typeface="Arial"/>
            </a:endParaRPr>
          </a:p>
          <a:p>
            <a:pPr marL="305435" indent="-305435" algn="just"/>
            <a:r>
              <a:rPr lang="en-IN" sz="1800" dirty="0">
                <a:latin typeface="Arial"/>
                <a:ea typeface="+mn-lt"/>
                <a:cs typeface="Arial"/>
              </a:rPr>
              <a:t>Existing productivity tools lack unified security: passwords are often stored insecurely in plain text or browser auto-fills without localized encryption.</a:t>
            </a:r>
            <a:endParaRPr lang="en-IN" sz="1800">
              <a:latin typeface="Arial"/>
              <a:cs typeface="Arial"/>
            </a:endParaRPr>
          </a:p>
          <a:p>
            <a:pPr marL="305435" indent="-305435" algn="just"/>
            <a:r>
              <a:rPr lang="en-IN" sz="1800" dirty="0">
                <a:latin typeface="Arial"/>
                <a:ea typeface="+mn-lt"/>
                <a:cs typeface="Arial"/>
              </a:rPr>
              <a:t>Traditional reminder apps lack semantic understanding and require rigid date/time pickers rather than natural-language phrasing.</a:t>
            </a:r>
            <a:endParaRPr lang="en-IN" sz="1800">
              <a:latin typeface="Arial"/>
              <a:cs typeface="Arial"/>
            </a:endParaRPr>
          </a:p>
          <a:p>
            <a:pPr marL="305435" indent="-305435" algn="just"/>
            <a:r>
              <a:rPr lang="en-IN" sz="1800" dirty="0">
                <a:latin typeface="Arial"/>
                <a:ea typeface="+mn-lt"/>
                <a:cs typeface="Arial"/>
              </a:rPr>
              <a:t>Users have little visibility into how their screen time is distributed across sites without manual logging tools.</a:t>
            </a:r>
            <a:endParaRPr lang="en-IN" sz="1800">
              <a:latin typeface="Arial"/>
              <a:cs typeface="Arial"/>
            </a:endParaRPr>
          </a:p>
          <a:p>
            <a:pPr marL="305435" indent="-305435" algn="just">
              <a:buFont typeface="Arial" panose="05020102010507070707" pitchFamily="18" charset="2"/>
              <a:buChar char="•"/>
            </a:pPr>
            <a:endParaRPr lang="en-IN" sz="18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60" y="1236061"/>
            <a:ext cx="11223193" cy="555467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 algn="just"/>
            <a:r>
              <a:rPr lang="en-IN" sz="1800" b="1" dirty="0">
                <a:latin typeface="Arial"/>
                <a:ea typeface="+mn-lt"/>
                <a:cs typeface="Arial"/>
              </a:rPr>
              <a:t>Unified Dashboard OS:</a:t>
            </a:r>
            <a:r>
              <a:rPr lang="en-IN" sz="1800" dirty="0">
                <a:latin typeface="Arial"/>
                <a:ea typeface="+mn-lt"/>
                <a:cs typeface="Arial"/>
              </a:rPr>
              <a:t> A single-pane </a:t>
            </a:r>
            <a:r>
              <a:rPr lang="en-IN" sz="1800" dirty="0" err="1">
                <a:latin typeface="Arial"/>
                <a:ea typeface="+mn-lt"/>
                <a:cs typeface="Arial"/>
              </a:rPr>
              <a:t>Streamlit</a:t>
            </a:r>
            <a:r>
              <a:rPr lang="en-IN" sz="1800" dirty="0">
                <a:latin typeface="Arial"/>
                <a:ea typeface="+mn-lt"/>
                <a:cs typeface="Arial"/>
              </a:rPr>
              <a:t> web interface acting as an operating hub for daily browsing, workspaces, and productivity tracking. </a:t>
            </a:r>
            <a:endParaRPr lang="en-IN" sz="1800" b="1" dirty="0">
              <a:latin typeface="Arial"/>
              <a:ea typeface="Calibri"/>
              <a:cs typeface="Arial"/>
            </a:endParaRPr>
          </a:p>
          <a:p>
            <a:pPr marL="305435" indent="-305435" algn="just"/>
            <a:r>
              <a:rPr lang="en-IN" sz="1800" b="1" dirty="0">
                <a:latin typeface="Arial"/>
                <a:ea typeface="+mn-lt"/>
                <a:cs typeface="Arial"/>
              </a:rPr>
              <a:t>Pinned Websites Hub:</a:t>
            </a:r>
            <a:r>
              <a:rPr lang="en-IN" sz="1800" dirty="0">
                <a:latin typeface="Arial"/>
                <a:ea typeface="+mn-lt"/>
                <a:cs typeface="Arial"/>
              </a:rPr>
              <a:t> Centralized bookmarking with automated AI classification and concise website summaries using Google Gemini Flash. </a:t>
            </a:r>
            <a:endParaRPr lang="en-IN" sz="1800" dirty="0">
              <a:latin typeface="Arial"/>
              <a:cs typeface="Arial"/>
            </a:endParaRPr>
          </a:p>
          <a:p>
            <a:pPr marL="305435" indent="-305435" algn="just"/>
            <a:r>
              <a:rPr lang="en-IN" sz="1800" b="1" dirty="0">
                <a:latin typeface="Arial"/>
                <a:ea typeface="+mn-lt"/>
                <a:cs typeface="Arial"/>
              </a:rPr>
              <a:t>Themed Custom Spaces:</a:t>
            </a:r>
            <a:r>
              <a:rPr lang="en-IN" sz="1800" dirty="0">
                <a:latin typeface="Arial"/>
                <a:ea typeface="+mn-lt"/>
                <a:cs typeface="Arial"/>
              </a:rPr>
              <a:t> Logical groupings of resources (e.g., Work, Dev, Media) to open and manage workspaces systematically. </a:t>
            </a:r>
            <a:endParaRPr lang="en-IN" sz="1800" dirty="0">
              <a:latin typeface="Arial"/>
              <a:cs typeface="Arial"/>
            </a:endParaRPr>
          </a:p>
          <a:p>
            <a:pPr marL="305435" indent="-305435" algn="just"/>
            <a:r>
              <a:rPr lang="en-IN" sz="1800" b="1" dirty="0">
                <a:latin typeface="Arial"/>
                <a:ea typeface="+mn-lt"/>
                <a:cs typeface="Arial"/>
              </a:rPr>
              <a:t>Encrypted Password Vault:</a:t>
            </a:r>
            <a:r>
              <a:rPr lang="en-IN" sz="1800" dirty="0">
                <a:latin typeface="Arial"/>
                <a:ea typeface="+mn-lt"/>
                <a:cs typeface="Arial"/>
              </a:rPr>
              <a:t> Client-side Fernet symmetric AES encryption ensuring credentials are never stored in plain text. </a:t>
            </a:r>
            <a:endParaRPr lang="en-IN" sz="1800" dirty="0">
              <a:latin typeface="Arial"/>
              <a:cs typeface="Arial"/>
            </a:endParaRPr>
          </a:p>
          <a:p>
            <a:pPr marL="305435" indent="-305435" algn="just"/>
            <a:r>
              <a:rPr lang="en-IN" sz="1800" b="1" dirty="0">
                <a:latin typeface="Arial"/>
                <a:ea typeface="+mn-lt"/>
                <a:cs typeface="Arial"/>
              </a:rPr>
              <a:t>Smart Reminders:</a:t>
            </a:r>
            <a:r>
              <a:rPr lang="en-IN" sz="1800" dirty="0">
                <a:latin typeface="Arial"/>
                <a:ea typeface="+mn-lt"/>
                <a:cs typeface="Arial"/>
              </a:rPr>
              <a:t> Natural Language Processing (NLP) integration via Gemini to parse freeform text (e.g., "Review goals tomorrow at 9 AM") into machine-readable dates. </a:t>
            </a:r>
            <a:endParaRPr lang="en-IN" sz="1800" dirty="0">
              <a:latin typeface="Arial"/>
              <a:cs typeface="Arial"/>
            </a:endParaRPr>
          </a:p>
          <a:p>
            <a:pPr marL="305435" indent="-305435" algn="just"/>
            <a:r>
              <a:rPr lang="en-IN" sz="1800" b="1" dirty="0">
                <a:latin typeface="Arial"/>
                <a:ea typeface="+mn-lt"/>
                <a:cs typeface="Arial"/>
              </a:rPr>
              <a:t>Analytics Engine:</a:t>
            </a:r>
            <a:r>
              <a:rPr lang="en-IN" sz="1800" dirty="0">
                <a:latin typeface="Arial"/>
                <a:ea typeface="+mn-lt"/>
                <a:cs typeface="Arial"/>
              </a:rPr>
              <a:t> Visual time-tracking and hourly heatmaps paired with automated AI productivity insights. </a:t>
            </a:r>
            <a:endParaRPr lang="en-IN" sz="1800" dirty="0">
              <a:latin typeface="Arial"/>
              <a:cs typeface="Arial"/>
            </a:endParaRPr>
          </a:p>
          <a:p>
            <a:pPr marL="305435" indent="-305435"/>
            <a:endParaRPr lang="en-IN" sz="1800" b="1" dirty="0">
              <a:latin typeface="Arial"/>
              <a:ea typeface="Calibri"/>
              <a:cs typeface="Arial"/>
            </a:endParaRPr>
          </a:p>
          <a:p>
            <a:pPr marL="305435" indent="-305435"/>
            <a:endParaRPr lang="en-IN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190513"/>
            <a:ext cx="11029615" cy="4673324"/>
          </a:xfrm>
        </p:spPr>
        <p:txBody>
          <a:bodyPr>
            <a:normAutofit/>
          </a:bodyPr>
          <a:lstStyle/>
          <a:p>
            <a:pPr marL="305435" indent="-305435">
              <a:buFont typeface="Wingdings 2"/>
              <a:buChar char=""/>
            </a:pPr>
            <a:r>
              <a:rPr lang="en-IN" sz="1600" b="1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Frontend / Framework: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IN" sz="1600" dirty="0" err="1">
                <a:solidFill>
                  <a:srgbClr val="0F0F0F"/>
                </a:solidFill>
                <a:latin typeface="Arial"/>
                <a:ea typeface="+mn-lt"/>
                <a:cs typeface="Arial"/>
              </a:rPr>
              <a:t>Streamlit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(Python-native reactive UI, </a:t>
            </a:r>
            <a:r>
              <a:rPr lang="en-IN" sz="1600" dirty="0" err="1">
                <a:solidFill>
                  <a:srgbClr val="0F0F0F"/>
                </a:solidFill>
                <a:latin typeface="Arial"/>
                <a:ea typeface="+mn-lt"/>
                <a:cs typeface="Arial"/>
              </a:rPr>
              <a:t>glassmorphic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CSS styling, and dynamic themes) </a:t>
            </a:r>
            <a:endParaRPr lang="en-US" sz="1600" dirty="0">
              <a:latin typeface="Arial"/>
              <a:ea typeface="+mn-lt"/>
              <a:cs typeface="Arial"/>
            </a:endParaRPr>
          </a:p>
          <a:p>
            <a:pPr marL="305435" indent="-305435">
              <a:buFont typeface="Wingdings 2"/>
              <a:buChar char=""/>
            </a:pPr>
            <a:r>
              <a:rPr lang="en-IN" sz="1600" b="1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Backend Language: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Python (Python 3.10+) 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305435" indent="-305435">
              <a:buFont typeface="Wingdings 2"/>
              <a:buChar char=""/>
            </a:pPr>
            <a:r>
              <a:rPr lang="en-IN" sz="1600" b="1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Data Processing &amp; Visualization: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Courier New"/>
              <a:buChar char="o"/>
            </a:pPr>
            <a:r>
              <a:rPr lang="en-IN" sz="1600" dirty="0">
                <a:solidFill>
                  <a:srgbClr val="0F0F0F"/>
                </a:solidFill>
                <a:latin typeface="Arial"/>
                <a:cs typeface="Arial"/>
              </a:rPr>
              <a:t>pandas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(session data aggregation, datetime filtering) 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Courier New"/>
              <a:buChar char="o"/>
            </a:pPr>
            <a:r>
              <a:rPr lang="en-IN" sz="1600" dirty="0" err="1">
                <a:solidFill>
                  <a:srgbClr val="0F0F0F"/>
                </a:solidFill>
                <a:latin typeface="Arial"/>
                <a:cs typeface="Arial"/>
              </a:rPr>
              <a:t>plotly.express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and </a:t>
            </a:r>
            <a:r>
              <a:rPr lang="en-IN" sz="1600" dirty="0" err="1">
                <a:solidFill>
                  <a:srgbClr val="0F0F0F"/>
                </a:solidFill>
                <a:latin typeface="Arial"/>
                <a:cs typeface="Arial"/>
              </a:rPr>
              <a:t>plotly.graph_objects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(donut charts, usage bar graphs, activity heatmaps) 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305435" indent="-305435">
              <a:buFont typeface="Wingdings 2"/>
              <a:buChar char=""/>
            </a:pPr>
            <a:r>
              <a:rPr lang="en-IN" sz="1600" b="1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Security &amp; Cryptography: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Courier New"/>
              <a:buChar char="o"/>
            </a:pPr>
            <a:r>
              <a:rPr lang="en-IN" sz="1600" dirty="0" err="1">
                <a:solidFill>
                  <a:srgbClr val="0F0F0F"/>
                </a:solidFill>
                <a:latin typeface="Arial"/>
                <a:cs typeface="Arial"/>
              </a:rPr>
              <a:t>cryptography.fernet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(Symmetric AES-128 in CBC mode with HMAC SHA256) 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Courier New"/>
              <a:buChar char="o"/>
            </a:pPr>
            <a:r>
              <a:rPr lang="en-IN" sz="1600" dirty="0" err="1">
                <a:solidFill>
                  <a:srgbClr val="0F0F0F"/>
                </a:solidFill>
                <a:latin typeface="Arial"/>
                <a:cs typeface="Arial"/>
              </a:rPr>
              <a:t>hashlib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(SHA-256 password hashing for authentication) 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305435" indent="-305435">
              <a:buFont typeface="Wingdings 2"/>
              <a:buChar char=""/>
            </a:pPr>
            <a:r>
              <a:rPr lang="en-IN" sz="1600" b="1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AI &amp; Language Model: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305435" indent="-305435">
              <a:buFont typeface="Wingdings 2"/>
              <a:buChar char=""/>
            </a:pP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Google Gemini API (</a:t>
            </a:r>
            <a:r>
              <a:rPr lang="en-IN" sz="1600" dirty="0">
                <a:solidFill>
                  <a:srgbClr val="0F0F0F"/>
                </a:solidFill>
                <a:latin typeface="Arial"/>
                <a:cs typeface="Arial"/>
              </a:rPr>
              <a:t>google-</a:t>
            </a:r>
            <a:r>
              <a:rPr lang="en-IN" sz="1600" dirty="0" err="1">
                <a:solidFill>
                  <a:srgbClr val="0F0F0F"/>
                </a:solidFill>
                <a:latin typeface="Arial"/>
                <a:cs typeface="Arial"/>
              </a:rPr>
              <a:t>genai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SDK: </a:t>
            </a:r>
            <a:r>
              <a:rPr lang="en-IN" sz="1600" dirty="0">
                <a:solidFill>
                  <a:srgbClr val="0F0F0F"/>
                </a:solidFill>
                <a:latin typeface="Arial"/>
                <a:cs typeface="Arial"/>
              </a:rPr>
              <a:t>gemini-2.5-flash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/ </a:t>
            </a:r>
            <a:r>
              <a:rPr lang="en-IN" sz="1600" dirty="0">
                <a:solidFill>
                  <a:srgbClr val="0F0F0F"/>
                </a:solidFill>
                <a:latin typeface="Arial"/>
                <a:cs typeface="Arial"/>
              </a:rPr>
              <a:t>gemini-3.5-flash-lite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) 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305435" indent="-305435">
              <a:buFont typeface="Wingdings 2"/>
              <a:buChar char=""/>
            </a:pPr>
            <a:r>
              <a:rPr lang="en-IN" sz="1600" b="1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Configuration: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IN" sz="1600" dirty="0">
                <a:solidFill>
                  <a:srgbClr val="0F0F0F"/>
                </a:solidFill>
                <a:latin typeface="Arial"/>
                <a:cs typeface="Arial"/>
              </a:rPr>
              <a:t>python-</a:t>
            </a:r>
            <a:r>
              <a:rPr lang="en-IN" sz="1600" err="1">
                <a:solidFill>
                  <a:srgbClr val="0F0F0F"/>
                </a:solidFill>
                <a:latin typeface="Arial"/>
                <a:cs typeface="Arial"/>
              </a:rPr>
              <a:t>dotenv</a:t>
            </a:r>
            <a:r>
              <a:rPr lang="en-IN" sz="1600" dirty="0">
                <a:solidFill>
                  <a:srgbClr val="0F0F0F"/>
                </a:solidFill>
                <a:latin typeface="Arial"/>
                <a:ea typeface="+mn-lt"/>
                <a:cs typeface="Arial"/>
              </a:rPr>
              <a:t> for secure environment variable isolation </a:t>
            </a:r>
            <a:endParaRPr lang="en-IN" sz="1600">
              <a:latin typeface="Arial"/>
              <a:ea typeface="+mn-lt"/>
              <a:cs typeface="Arial"/>
            </a:endParaRPr>
          </a:p>
          <a:p>
            <a:pPr marL="305435" indent="-305435">
              <a:buFont typeface="Wingdings 2"/>
              <a:buChar char=""/>
            </a:pPr>
            <a:endParaRPr lang="en-IN" sz="1600" dirty="0">
              <a:solidFill>
                <a:srgbClr val="0F0F0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227685"/>
            <a:ext cx="11020323" cy="5807030"/>
          </a:xfrm>
        </p:spPr>
        <p:txBody>
          <a:bodyPr>
            <a:normAutofit/>
          </a:bodyPr>
          <a:lstStyle/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1350" b="1" dirty="0">
                <a:latin typeface="Arial"/>
                <a:ea typeface="+mn-lt"/>
                <a:cs typeface="Arial"/>
              </a:rPr>
              <a:t>Algorithm Selection:</a:t>
            </a:r>
            <a:endParaRPr lang="en-IN" sz="135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Fernet Symmetric Cryptography (AES-128-CBC + HMAC-SHA256):</a:t>
            </a:r>
            <a:r>
              <a:rPr lang="en-IN" sz="1350" dirty="0">
                <a:latin typeface="Arial"/>
                <a:ea typeface="+mn-lt"/>
                <a:cs typeface="Arial"/>
              </a:rPr>
              <a:t> Selected to secure stored credentials in the password vault, guaranteeing that sensitive keys and passwords remain unreadable even if application state is inspected. </a:t>
            </a:r>
            <a:endParaRPr lang="en-IN" sz="135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Google Gemini Large Language Model (Flash Series via Zero-Shot Prompting):</a:t>
            </a:r>
            <a:r>
              <a:rPr lang="en-IN" sz="1350" dirty="0">
                <a:latin typeface="Arial"/>
                <a:ea typeface="+mn-lt"/>
                <a:cs typeface="Arial"/>
              </a:rPr>
              <a:t> Utilized for semantic understanding, contextual natural language time parsing, and automated URL content summarization. </a:t>
            </a:r>
            <a:endParaRPr lang="en-IN" sz="1350">
              <a:latin typeface="Arial"/>
              <a:cs typeface="Arial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1350" b="1" dirty="0">
                <a:latin typeface="Arial"/>
                <a:ea typeface="+mn-lt"/>
                <a:cs typeface="Arial"/>
              </a:rPr>
              <a:t>Data Input:</a:t>
            </a:r>
            <a:endParaRPr lang="en-IN" sz="135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Vault Input:</a:t>
            </a:r>
            <a:r>
              <a:rPr lang="en-IN" sz="1350" dirty="0">
                <a:latin typeface="Arial"/>
                <a:ea typeface="+mn-lt"/>
                <a:cs typeface="Arial"/>
              </a:rPr>
              <a:t> Plaintext user strings, target service names, and master derivation seeds. </a:t>
            </a:r>
            <a:endParaRPr lang="en-IN" sz="135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AI Inputs:</a:t>
            </a:r>
            <a:r>
              <a:rPr lang="en-IN" sz="1350" dirty="0">
                <a:latin typeface="Arial"/>
                <a:ea typeface="+mn-lt"/>
                <a:cs typeface="Arial"/>
              </a:rPr>
              <a:t> Unstructured human reminder phrasing (e.g., </a:t>
            </a:r>
            <a:r>
              <a:rPr lang="en-IN" sz="1350" i="1" dirty="0">
                <a:latin typeface="Arial"/>
                <a:ea typeface="+mn-lt"/>
                <a:cs typeface="Arial"/>
              </a:rPr>
              <a:t>"Finish report tomorrow at 3 PM"</a:t>
            </a:r>
            <a:r>
              <a:rPr lang="en-IN" sz="1350" dirty="0">
                <a:latin typeface="Arial"/>
                <a:ea typeface="+mn-lt"/>
                <a:cs typeface="Arial"/>
              </a:rPr>
              <a:t>), target website URLs, and aggregated 30-day browsing telemetry. </a:t>
            </a:r>
            <a:endParaRPr lang="en-IN" sz="1350">
              <a:latin typeface="Arial"/>
              <a:cs typeface="Arial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1350" b="1" dirty="0">
                <a:latin typeface="Arial"/>
                <a:ea typeface="+mn-lt"/>
                <a:cs typeface="Arial"/>
              </a:rPr>
              <a:t>Processing &amp; Inference Pipeline:</a:t>
            </a:r>
            <a:endParaRPr lang="en-IN" sz="135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Encryption Pipeline:</a:t>
            </a:r>
            <a:r>
              <a:rPr lang="en-IN" sz="1350" dirty="0">
                <a:latin typeface="Arial"/>
                <a:ea typeface="+mn-lt"/>
                <a:cs typeface="Arial"/>
              </a:rPr>
              <a:t> Plaintext credentials pass through Fernet URL-safe Base64 encoding and HMAC integrity verification prior to memory storage. </a:t>
            </a:r>
            <a:endParaRPr lang="en-IN" sz="1350" dirty="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Resilient Multi-Model LLM Routing:</a:t>
            </a:r>
            <a:r>
              <a:rPr lang="en-IN" sz="1350" dirty="0">
                <a:latin typeface="Arial"/>
                <a:ea typeface="+mn-lt"/>
                <a:cs typeface="Arial"/>
              </a:rPr>
              <a:t> Prompts cycle dynamically through </a:t>
            </a:r>
            <a:r>
              <a:rPr lang="en-IN" sz="1350" dirty="0">
                <a:latin typeface="Arial"/>
                <a:cs typeface="Arial"/>
              </a:rPr>
              <a:t>gemini-2.5-flash</a:t>
            </a:r>
            <a:r>
              <a:rPr lang="en-IN" sz="1350" dirty="0">
                <a:latin typeface="Arial"/>
                <a:ea typeface="+mn-lt"/>
                <a:cs typeface="Arial"/>
              </a:rPr>
              <a:t>, </a:t>
            </a:r>
            <a:r>
              <a:rPr lang="en-IN" sz="1350" dirty="0">
                <a:latin typeface="Arial"/>
                <a:cs typeface="Arial"/>
              </a:rPr>
              <a:t>gemini-3.5-flash-lite</a:t>
            </a:r>
            <a:r>
              <a:rPr lang="en-IN" sz="1350" dirty="0">
                <a:latin typeface="Arial"/>
                <a:ea typeface="+mn-lt"/>
                <a:cs typeface="Arial"/>
              </a:rPr>
              <a:t>, and </a:t>
            </a:r>
            <a:r>
              <a:rPr lang="en-IN" sz="1350" dirty="0">
                <a:latin typeface="Arial"/>
                <a:cs typeface="Arial"/>
              </a:rPr>
              <a:t>gemini-3.1-flash-lite</a:t>
            </a:r>
            <a:r>
              <a:rPr lang="en-IN" sz="1350" dirty="0">
                <a:latin typeface="Arial"/>
                <a:ea typeface="+mn-lt"/>
                <a:cs typeface="Arial"/>
              </a:rPr>
              <a:t> with backoff retries to prevent downtime from API rate limits (HTTP 429) or high-demand server spikes (HTTP 503). </a:t>
            </a:r>
            <a:endParaRPr lang="en-IN" sz="1350">
              <a:latin typeface="Arial"/>
              <a:cs typeface="Arial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1350" b="1" dirty="0">
                <a:latin typeface="Arial"/>
                <a:ea typeface="+mn-lt"/>
                <a:cs typeface="Arial"/>
              </a:rPr>
              <a:t>Deployment Process:</a:t>
            </a:r>
            <a:endParaRPr lang="en-IN" sz="135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Continuous Integration &amp; Delivery (CI/CD):</a:t>
            </a:r>
            <a:r>
              <a:rPr lang="en-IN" sz="1350" dirty="0">
                <a:latin typeface="Arial"/>
                <a:ea typeface="+mn-lt"/>
                <a:cs typeface="Arial"/>
              </a:rPr>
              <a:t> Version-controlled code hosted on GitHub triggers automated builds upon every commit. </a:t>
            </a:r>
            <a:endParaRPr lang="en-IN" sz="1350" dirty="0">
              <a:latin typeface="Arial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Wingdings" panose="05020102010507070707" pitchFamily="18" charset="2"/>
              <a:buChar char="Ø"/>
            </a:pPr>
            <a:r>
              <a:rPr lang="en-IN" sz="1350" b="1" dirty="0">
                <a:latin typeface="Arial"/>
                <a:ea typeface="+mn-lt"/>
                <a:cs typeface="Arial"/>
              </a:rPr>
              <a:t>Cloud Hosting:</a:t>
            </a:r>
            <a:r>
              <a:rPr lang="en-IN" sz="1350" dirty="0">
                <a:latin typeface="Arial"/>
                <a:ea typeface="+mn-lt"/>
                <a:cs typeface="Arial"/>
              </a:rPr>
              <a:t> Deployed on </a:t>
            </a:r>
            <a:r>
              <a:rPr lang="en-IN" sz="1350" b="1" dirty="0" err="1">
                <a:latin typeface="Arial"/>
                <a:ea typeface="+mn-lt"/>
                <a:cs typeface="Arial"/>
              </a:rPr>
              <a:t>Streamlit</a:t>
            </a:r>
            <a:r>
              <a:rPr lang="en-IN" sz="1350" b="1" dirty="0">
                <a:latin typeface="Arial"/>
                <a:ea typeface="+mn-lt"/>
                <a:cs typeface="Arial"/>
              </a:rPr>
              <a:t> Community Cloud</a:t>
            </a:r>
            <a:r>
              <a:rPr lang="en-IN" sz="1350" dirty="0">
                <a:latin typeface="Arial"/>
                <a:ea typeface="+mn-lt"/>
                <a:cs typeface="Arial"/>
              </a:rPr>
              <a:t> with environment secrets (</a:t>
            </a:r>
            <a:r>
              <a:rPr lang="en-IN" sz="1350" dirty="0">
                <a:latin typeface="Arial"/>
                <a:cs typeface="Arial"/>
              </a:rPr>
              <a:t>GEMINI_API_KEY</a:t>
            </a:r>
            <a:r>
              <a:rPr lang="en-IN" sz="1350" dirty="0">
                <a:latin typeface="Arial"/>
                <a:ea typeface="+mn-lt"/>
                <a:cs typeface="Arial"/>
              </a:rPr>
              <a:t>, </a:t>
            </a:r>
            <a:r>
              <a:rPr lang="en-IN" sz="1350" dirty="0">
                <a:latin typeface="Arial"/>
                <a:cs typeface="Arial"/>
              </a:rPr>
              <a:t>ENCRYPTION_KEY</a:t>
            </a:r>
            <a:r>
              <a:rPr lang="en-IN" sz="1350" dirty="0">
                <a:latin typeface="Arial"/>
                <a:ea typeface="+mn-lt"/>
                <a:cs typeface="Arial"/>
              </a:rPr>
              <a:t>) securely injected at runtime for global accessibility. </a:t>
            </a:r>
            <a:endParaRPr lang="en-IN" sz="1350">
              <a:latin typeface="Arial"/>
              <a:cs typeface="Arial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13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C11F6-970E-9FAC-C774-4502955FC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2" y="1231819"/>
            <a:ext cx="11021122" cy="518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78E5-5537-C557-EBDE-B279BBDF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2100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0A988E-B4B4-80AE-DEA3-B1CE3AEF4955}"/>
              </a:ext>
            </a:extLst>
          </p:cNvPr>
          <p:cNvSpPr>
            <a:spLocks noGrp="1"/>
          </p:cNvSpPr>
          <p:nvPr/>
        </p:nvSpPr>
        <p:spPr>
          <a:xfrm>
            <a:off x="581192" y="1302026"/>
            <a:ext cx="11029615" cy="46733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390C5C-2299-C255-86F6-E3F026FBA48C}"/>
              </a:ext>
            </a:extLst>
          </p:cNvPr>
          <p:cNvSpPr>
            <a:spLocks noGrp="1"/>
          </p:cNvSpPr>
          <p:nvPr/>
        </p:nvSpPr>
        <p:spPr>
          <a:xfrm>
            <a:off x="581192" y="1302026"/>
            <a:ext cx="11029615" cy="46733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F30DA-0EA6-91AF-8EEB-7CD1EC366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39" y="1218732"/>
            <a:ext cx="11021122" cy="508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4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D539-9C1D-5583-6C1A-5EFBF11D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96917A-44BB-AA4A-DD1A-C0E34A7D1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152" y="1162636"/>
            <a:ext cx="11099304" cy="519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2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240C-36A1-EFBC-98A6-0FCE1101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37CB0C-E399-AE8A-6583-EF942817B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439" y="1153591"/>
            <a:ext cx="11021120" cy="524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7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7040-7065-8184-BB15-6197A6DF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B3D718-72C8-67D8-DFDF-025A30FF1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518" y="1162636"/>
            <a:ext cx="11024962" cy="518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1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818806"/>
            <a:ext cx="11141127" cy="3381641"/>
          </a:xfrm>
        </p:spPr>
        <p:txBody>
          <a:bodyPr>
            <a:normAutofit/>
          </a:bodyPr>
          <a:lstStyle/>
          <a:p>
            <a:pPr marL="305435" indent="-305435" algn="just"/>
            <a:r>
              <a:rPr lang="en-IN" sz="1800" dirty="0">
                <a:solidFill>
                  <a:srgbClr val="0F0F0F"/>
                </a:solidFill>
                <a:latin typeface="Arial"/>
                <a:cs typeface="Arial"/>
              </a:rPr>
              <a:t>Developed a fully responsive, full-stack productivity web app using pure Python and </a:t>
            </a:r>
            <a:r>
              <a:rPr lang="en-IN" sz="1800" dirty="0" err="1">
                <a:solidFill>
                  <a:srgbClr val="0F0F0F"/>
                </a:solidFill>
                <a:latin typeface="Arial"/>
                <a:cs typeface="Arial"/>
              </a:rPr>
              <a:t>Streamlit</a:t>
            </a:r>
            <a:r>
              <a:rPr lang="en-IN" sz="1800" dirty="0">
                <a:solidFill>
                  <a:srgbClr val="0F0F0F"/>
                </a:solidFill>
                <a:latin typeface="Arial"/>
                <a:cs typeface="Arial"/>
              </a:rPr>
              <a:t>. </a:t>
            </a:r>
            <a:endParaRPr lang="en-IN" sz="1800">
              <a:solidFill>
                <a:srgbClr val="404040"/>
              </a:solidFill>
              <a:latin typeface="Arial"/>
              <a:cs typeface="Arial"/>
            </a:endParaRPr>
          </a:p>
          <a:p>
            <a:pPr marL="305435" indent="-305435" algn="just"/>
            <a:r>
              <a:rPr lang="en-IN" sz="1800" dirty="0">
                <a:solidFill>
                  <a:srgbClr val="0F0F0F"/>
                </a:solidFill>
                <a:latin typeface="Arial"/>
                <a:cs typeface="Arial"/>
              </a:rPr>
              <a:t>Successfully eliminated tab distraction by unifying bookmarks, workspace suites, credentials, and natural-language tasks into one application. </a:t>
            </a:r>
            <a:endParaRPr lang="en-IN" sz="1800">
              <a:solidFill>
                <a:srgbClr val="404040"/>
              </a:solidFill>
              <a:latin typeface="Arial"/>
              <a:cs typeface="Arial"/>
            </a:endParaRPr>
          </a:p>
          <a:p>
            <a:pPr marL="305435" indent="-305435" algn="just"/>
            <a:r>
              <a:rPr lang="en-IN" sz="1800" dirty="0">
                <a:solidFill>
                  <a:srgbClr val="0F0F0F"/>
                </a:solidFill>
                <a:latin typeface="Arial"/>
                <a:cs typeface="Arial"/>
              </a:rPr>
              <a:t>Integrated cloud AI capabilities with fallback protection to maintain uptime on free-tier limits. </a:t>
            </a:r>
            <a:endParaRPr lang="en-IN" sz="1800">
              <a:solidFill>
                <a:srgbClr val="404040"/>
              </a:solidFill>
              <a:latin typeface="Arial"/>
              <a:cs typeface="Arial"/>
            </a:endParaRPr>
          </a:p>
          <a:p>
            <a:pPr marL="305435" indent="-305435" algn="just"/>
            <a:r>
              <a:rPr lang="en-IN" sz="1800" dirty="0">
                <a:solidFill>
                  <a:srgbClr val="0F0F0F"/>
                </a:solidFill>
                <a:latin typeface="Arial"/>
                <a:cs typeface="Arial"/>
              </a:rPr>
              <a:t>Maintained data privacy through client-side cryptographic hashing and Fernet encryption. </a:t>
            </a:r>
            <a:endParaRPr lang="en-IN" sz="1800">
              <a:solidFill>
                <a:srgbClr val="404040"/>
              </a:solidFill>
              <a:latin typeface="Arial"/>
              <a:cs typeface="Arial"/>
            </a:endParaRPr>
          </a:p>
          <a:p>
            <a:pPr marL="305435" indent="-305435" algn="just"/>
            <a:endParaRPr lang="en-IN" sz="1800" dirty="0">
              <a:solidFill>
                <a:srgbClr val="0F0F0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30" y="846685"/>
            <a:ext cx="11038906" cy="5082202"/>
          </a:xfrm>
        </p:spPr>
        <p:txBody>
          <a:bodyPr/>
          <a:lstStyle/>
          <a:p>
            <a:pPr marL="305435" indent="-305435" algn="just"/>
            <a:r>
              <a:rPr lang="en-US" sz="1800" b="1" dirty="0">
                <a:latin typeface="Arial"/>
                <a:ea typeface="+mn-lt"/>
                <a:cs typeface="Arial"/>
              </a:rPr>
              <a:t>Cloud Database Persistence:</a:t>
            </a:r>
            <a:r>
              <a:rPr lang="en-US" sz="1800" dirty="0">
                <a:latin typeface="Arial"/>
                <a:ea typeface="+mn-lt"/>
                <a:cs typeface="Arial"/>
              </a:rPr>
              <a:t> Replace temporary </a:t>
            </a:r>
            <a:r>
              <a:rPr lang="en-US" sz="1800" dirty="0" err="1">
                <a:latin typeface="Arial"/>
                <a:cs typeface="Arial"/>
              </a:rPr>
              <a:t>st.session_state</a:t>
            </a:r>
            <a:r>
              <a:rPr lang="en-US" sz="1800" dirty="0">
                <a:latin typeface="Arial"/>
                <a:ea typeface="+mn-lt"/>
                <a:cs typeface="Arial"/>
              </a:rPr>
              <a:t> storage with persistent cloud databases like </a:t>
            </a:r>
            <a:r>
              <a:rPr lang="en-US" sz="1800" dirty="0" err="1">
                <a:latin typeface="Arial"/>
                <a:ea typeface="+mn-lt"/>
                <a:cs typeface="Arial"/>
              </a:rPr>
              <a:t>Supabase</a:t>
            </a:r>
            <a:r>
              <a:rPr lang="en-US" sz="1800" dirty="0">
                <a:latin typeface="Arial"/>
                <a:ea typeface="+mn-lt"/>
                <a:cs typeface="Arial"/>
              </a:rPr>
              <a:t>, Firebase, or PostgreSQL. </a:t>
            </a:r>
            <a:endParaRPr lang="en-US" sz="1800" dirty="0">
              <a:latin typeface="Arial"/>
              <a:cs typeface="Arial"/>
            </a:endParaRPr>
          </a:p>
          <a:p>
            <a:pPr marL="305435" indent="-305435" algn="just"/>
            <a:r>
              <a:rPr lang="en-US" sz="1800" b="1" dirty="0">
                <a:latin typeface="Arial"/>
                <a:ea typeface="+mn-lt"/>
                <a:cs typeface="Arial"/>
              </a:rPr>
              <a:t>Browser Extension Sync:</a:t>
            </a:r>
            <a:r>
              <a:rPr lang="en-US" sz="1800" dirty="0">
                <a:latin typeface="Arial"/>
                <a:ea typeface="+mn-lt"/>
                <a:cs typeface="Arial"/>
              </a:rPr>
              <a:t> Build a lightweight Chrome/Firefox browser extension to auto-sync active browser tabs and browsing history directly into </a:t>
            </a:r>
            <a:r>
              <a:rPr lang="en-US" sz="1800" dirty="0" err="1">
                <a:latin typeface="Arial"/>
                <a:ea typeface="+mn-lt"/>
                <a:cs typeface="Arial"/>
              </a:rPr>
              <a:t>Portalix</a:t>
            </a:r>
            <a:r>
              <a:rPr lang="en-US" sz="1800" dirty="0">
                <a:latin typeface="Arial"/>
                <a:ea typeface="+mn-lt"/>
                <a:cs typeface="Arial"/>
              </a:rPr>
              <a:t> spaces. </a:t>
            </a:r>
            <a:endParaRPr lang="en-US" sz="1800" dirty="0">
              <a:latin typeface="Arial"/>
              <a:cs typeface="Arial"/>
            </a:endParaRPr>
          </a:p>
          <a:p>
            <a:pPr marL="305435" indent="-305435" algn="just"/>
            <a:r>
              <a:rPr lang="en-US" sz="1800" b="1" dirty="0">
                <a:latin typeface="Arial"/>
                <a:ea typeface="+mn-lt"/>
                <a:cs typeface="Arial"/>
              </a:rPr>
              <a:t>OAuth 2.0 Integration:</a:t>
            </a:r>
            <a:r>
              <a:rPr lang="en-US" sz="1800" dirty="0">
                <a:latin typeface="Arial"/>
                <a:ea typeface="+mn-lt"/>
                <a:cs typeface="Arial"/>
              </a:rPr>
              <a:t> Implement live multi-tenant authentication using Google, GitHub, or Auth0 OAuth providers. </a:t>
            </a:r>
            <a:endParaRPr lang="en-US" sz="1800" dirty="0">
              <a:latin typeface="Arial"/>
              <a:cs typeface="Arial"/>
            </a:endParaRPr>
          </a:p>
          <a:p>
            <a:pPr marL="305435" indent="-305435" algn="just"/>
            <a:r>
              <a:rPr lang="en-US" sz="1800" b="1" dirty="0">
                <a:latin typeface="Arial"/>
                <a:ea typeface="+mn-lt"/>
                <a:cs typeface="Arial"/>
              </a:rPr>
              <a:t>Task Automation:</a:t>
            </a:r>
            <a:r>
              <a:rPr lang="en-US" sz="1800" dirty="0">
                <a:latin typeface="Arial"/>
                <a:ea typeface="+mn-lt"/>
                <a:cs typeface="Arial"/>
              </a:rPr>
              <a:t> Integrate webhooks and calendar synchronizations (Google Calendar, Outlook) for smart reminders</a:t>
            </a:r>
            <a:endParaRPr lang="en-US" sz="1800" dirty="0">
              <a:latin typeface="Arial"/>
              <a:cs typeface="Arial"/>
            </a:endParaRPr>
          </a:p>
          <a:p>
            <a:pPr marL="305435" indent="-305435" algn="just"/>
            <a:endParaRPr lang="en-US" sz="1800" dirty="0">
              <a:latin typeface="Arial"/>
              <a:cs typeface="Arial"/>
            </a:endParaRPr>
          </a:p>
          <a:p>
            <a:pPr marL="305435" indent="-305435" algn="just"/>
            <a:endParaRPr lang="en-US" sz="1800" dirty="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400" b="1" dirty="0" err="1">
                <a:solidFill>
                  <a:srgbClr val="0F0F0F"/>
                </a:solidFill>
                <a:ea typeface="+mn-lt"/>
                <a:cs typeface="+mn-lt"/>
              </a:rPr>
              <a:t>Streamlit</a:t>
            </a:r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 Documentation: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 </a:t>
            </a:r>
            <a:endParaRPr lang="en-IN" sz="2400">
              <a:solidFill>
                <a:srgbClr val="0F0F0F"/>
              </a:solidFill>
              <a:ea typeface="+mn-lt"/>
              <a:cs typeface="+mn-lt"/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en-IN" sz="2100" dirty="0">
                <a:solidFill>
                  <a:srgbClr val="0F0F0F"/>
                </a:solidFill>
                <a:ea typeface="+mn-lt"/>
                <a:cs typeface="+mn-lt"/>
                <a:hlinkClick r:id="rId2"/>
              </a:rPr>
              <a:t>https://docs.streamlit.io</a:t>
            </a:r>
            <a:endParaRPr lang="en-IN" sz="2100">
              <a:solidFill>
                <a:srgbClr val="0F0F0F"/>
              </a:solidFill>
            </a:endParaRPr>
          </a:p>
          <a:p>
            <a:pPr marL="305435" indent="-305435"/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Google Gemini API Documentation: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 </a:t>
            </a:r>
            <a:endParaRPr lang="en-IN">
              <a:solidFill>
                <a:srgbClr val="404040"/>
              </a:solidFill>
              <a:ea typeface="+mn-lt"/>
              <a:cs typeface="+mn-lt"/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en-IN" sz="2100" dirty="0">
                <a:solidFill>
                  <a:srgbClr val="0F0F0F"/>
                </a:solidFill>
                <a:ea typeface="+mn-lt"/>
                <a:cs typeface="+mn-lt"/>
                <a:hlinkClick r:id="rId3"/>
              </a:rPr>
              <a:t>https://ai.google.dev/docs</a:t>
            </a:r>
            <a:endParaRPr lang="en-IN"/>
          </a:p>
          <a:p>
            <a:pPr marL="305435" indent="-305435"/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Cryptography (Fernet) Docs: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 </a:t>
            </a:r>
            <a:endParaRPr lang="en-IN" dirty="0">
              <a:solidFill>
                <a:srgbClr val="404040"/>
              </a:solidFill>
              <a:ea typeface="+mn-lt"/>
              <a:cs typeface="+mn-lt"/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en-IN" sz="2100" dirty="0">
                <a:solidFill>
                  <a:srgbClr val="0F0F0F"/>
                </a:solidFill>
                <a:ea typeface="+mn-lt"/>
                <a:cs typeface="+mn-lt"/>
                <a:hlinkClick r:id="rId4"/>
              </a:rPr>
              <a:t>https://cryptography.io/en/latest/fernet/</a:t>
            </a:r>
            <a:endParaRPr lang="en-IN"/>
          </a:p>
          <a:p>
            <a:pPr marL="305435" indent="-305435"/>
            <a:endParaRPr lang="en-IN" sz="24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sz="2800" b="1" dirty="0" err="1">
                <a:latin typeface="Arial"/>
                <a:cs typeface="Arial"/>
              </a:rPr>
              <a:t>Github</a:t>
            </a:r>
            <a:r>
              <a:rPr lang="en-IN" sz="2800" b="1" dirty="0">
                <a:latin typeface="Arial"/>
                <a:cs typeface="Arial"/>
              </a:rPr>
              <a:t> Repository :- </a:t>
            </a:r>
            <a:endParaRPr lang="en-IN" sz="2800" b="1" dirty="0">
              <a:latin typeface="Arial"/>
              <a:ea typeface="+mn-lt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en-IN" sz="2500" dirty="0">
                <a:latin typeface="Arial"/>
                <a:ea typeface="+mn-lt"/>
                <a:cs typeface="Arial"/>
                <a:hlinkClick r:id="rId2"/>
              </a:rPr>
              <a:t>https://github.com/asishkumarsahoo614/Portalix.git</a:t>
            </a:r>
            <a:endParaRPr lang="en-IN" sz="2500">
              <a:latin typeface="Arial"/>
              <a:ea typeface="+mn-lt"/>
              <a:cs typeface="Arial"/>
            </a:endParaRPr>
          </a:p>
          <a:p>
            <a:pPr marL="305435" indent="-305435"/>
            <a:r>
              <a:rPr lang="en-IN" sz="2800" b="1" dirty="0">
                <a:latin typeface="Arial"/>
                <a:cs typeface="Arial"/>
              </a:rPr>
              <a:t>Live </a:t>
            </a:r>
            <a:r>
              <a:rPr lang="en-IN" sz="2800" b="1" dirty="0" err="1">
                <a:latin typeface="Arial"/>
                <a:cs typeface="Arial"/>
              </a:rPr>
              <a:t>Streamlit</a:t>
            </a:r>
            <a:r>
              <a:rPr lang="en-IN" sz="2800" b="1" dirty="0">
                <a:latin typeface="Arial"/>
                <a:cs typeface="Arial"/>
              </a:rPr>
              <a:t> Application :- </a:t>
            </a:r>
            <a:endParaRPr lang="en-IN" sz="2800" b="1">
              <a:latin typeface="Arial"/>
              <a:ea typeface="+mn-lt"/>
              <a:cs typeface="Arial"/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en-IN" sz="2500" dirty="0">
                <a:latin typeface="Arial"/>
                <a:ea typeface="+mn-lt"/>
                <a:cs typeface="Arial"/>
                <a:hlinkClick r:id="rId3"/>
              </a:rPr>
              <a:t>https://p0rtalix-demo.streamlit.app/</a:t>
            </a:r>
            <a:endParaRPr lang="en-IN" sz="2500">
              <a:latin typeface="Arial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0</TotalTime>
  <Words>685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DividendVTI</vt:lpstr>
      <vt:lpstr>PORTALIX- Productivity Dashboard Full-stack Streamlit application with AI features powered by Google Gemini Flash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Eluri Narendra</cp:lastModifiedBy>
  <cp:revision>352</cp:revision>
  <dcterms:created xsi:type="dcterms:W3CDTF">2021-05-26T16:50:10Z</dcterms:created>
  <dcterms:modified xsi:type="dcterms:W3CDTF">2026-09-28T20:00:41Z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